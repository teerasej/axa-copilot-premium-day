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fc84bc2c84552" /><Relationship Type="http://schemas.openxmlformats.org/officeDocument/2006/relationships/extended-properties" Target="/docProps/app.xml" Id="Rd7c3bb9cc4d341ea" /><Relationship Type="http://schemas.openxmlformats.org/officeDocument/2006/relationships/officeDocument" Target="/ppt/presentation.xml" Id="R4b3189296b7445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331ad8bd0491b"/>
    <p:sldMasterId xmlns:r="http://schemas.openxmlformats.org/officeDocument/2006/relationships" id="2147483650" r:id="Rd2a2a5d2725f41f3"/>
  </p:sldMasterIdLst>
  <p:notesMasterIdLst>
    <p:notesMasterId xmlns:r="http://schemas.openxmlformats.org/officeDocument/2006/relationships" r:id="R67d3e96e511246b4"/>
  </p:notesMasterIdLst>
  <p:sldIdLst>
    <p:sldId xmlns:r="http://schemas.openxmlformats.org/officeDocument/2006/relationships" id="256" r:id="R26b39f3870fa4dae"/>
    <p:sldId xmlns:r="http://schemas.openxmlformats.org/officeDocument/2006/relationships" id="257" r:id="R9dbeda73bb4e495d"/>
    <p:sldId xmlns:r="http://schemas.openxmlformats.org/officeDocument/2006/relationships" id="258" r:id="R067c944898914b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8062f2aba4cd4" /><Relationship Type="http://schemas.openxmlformats.org/officeDocument/2006/relationships/slideMaster" Target="/ppt/slideMasters/slideMaster1.xml" Id="R380331ad8bd0491b" /><Relationship Type="http://schemas.openxmlformats.org/officeDocument/2006/relationships/slideMaster" Target="/ppt/slideMasters/slideMaster2.xml" Id="Rd2a2a5d2725f41f3" /><Relationship Type="http://schemas.openxmlformats.org/officeDocument/2006/relationships/notesMaster" Target="/ppt/notesMasters/notesMaster1.xml" Id="R67d3e96e511246b4" /><Relationship Type="http://schemas.openxmlformats.org/officeDocument/2006/relationships/presProps" Target="/ppt/presProps.xml" Id="R6268a7d364144f4a" /><Relationship Type="http://schemas.openxmlformats.org/officeDocument/2006/relationships/tableStyles" Target="/ppt/tableStyles.xml" Id="Rd4d91f24d8c24c88" /><Relationship Type="http://schemas.openxmlformats.org/officeDocument/2006/relationships/slide" Target="/ppt/slides/slide1.xml" Id="R26b39f3870fa4dae" /><Relationship Type="http://schemas.openxmlformats.org/officeDocument/2006/relationships/slide" Target="/ppt/slides/slide2.xml" Id="R9dbeda73bb4e495d" /><Relationship Type="http://schemas.openxmlformats.org/officeDocument/2006/relationships/slide" Target="/ppt/slides/slide3.xml" Id="R067c94489891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f5e6a2b5849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Asteria Service Review">
      <a:dk1>
        <a:srgbClr val="152D50"/>
      </a:dk1>
      <a:lt1>
        <a:srgbClr val="FFFFFF"/>
      </a:lt1>
      <a:dk2>
        <a:srgbClr val="263B52"/>
      </a:dk2>
      <a:lt2>
        <a:srgbClr val="EEF5FA"/>
      </a:lt2>
      <a:accent1>
        <a:srgbClr val="1474BB"/>
      </a:accent1>
      <a:accent2>
        <a:srgbClr val="A92C39"/>
      </a:accent2>
      <a:accent3>
        <a:srgbClr val="8793A2"/>
      </a:accent3>
      <a:accent4>
        <a:srgbClr val="466889"/>
      </a:accent4>
      <a:accent5>
        <a:srgbClr val="B5CCDF"/>
      </a:accent5>
      <a:accent6>
        <a:srgbClr val="DCE8F1"/>
      </a:accent6>
      <a:hlink>
        <a:srgbClr val="1474BB"/>
      </a:hlink>
      <a:folHlink>
        <a:srgbClr val="466889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Asteria Servi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ac1ba31924770" /><Relationship Type="http://schemas.openxmlformats.org/officeDocument/2006/relationships/notesMaster" Target="/ppt/notesMasters/notesMaster1.xml" Id="Rb5f7b2eacb93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fbc4ccfba4f2c" /><Relationship Type="http://schemas.openxmlformats.org/officeDocument/2006/relationships/notesMaster" Target="/ppt/notesMasters/notesMaster1.xml" Id="R7345644ed93e44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41b69f030476c" /><Relationship Type="http://schemas.openxmlformats.org/officeDocument/2006/relationships/notesMaster" Target="/ppt/notesMasters/notesMaster1.xml" Id="R1625b9c49bef4a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Asteria_Service_KPI_28days.xlsx, KPI_Data!A2:J29 and Definitions!A1:C10. Claims: C15:D18, peak C17, four Above SLA rows E15:E18. Complaints: F15=13 (14 September), F22=24 (21 September), difference 11. Digital conversion: H23/G23=61/540=11.296296%; H26/G26=54/570=9.473684%; difference (54/570 - 61/540)*100 = -1.823612 percentage points. Display rounding: 11.30%, 9.47%, -1.82 pp. Fictional Asteria training evidence. Patterns do not prove causes or financial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Asteria_Service_KPI_28days.xlsx, KPI_Data!A2:A29 (1–28 September 2026), C2:C29 (Claim TAT Hours), D2:D29 (48-hour SLA). Above-SLA values: 50, 55, 58, 52 on 14–17 September. Maximum: C17=58 on A17=16 September. Native editable chart uses a 28-day snapshot of those source values; the embedded chart workbook preserves values, not the original source formulas or an automatic refresh link. Fictional Asteria evidence; no causal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Asteria_Service_KPI_28days.xlsx, Definitions!A3:C8 and KPI_Data!J14 (routing event), J19 (queue handoff), J23 (campaign refresh). Source timing is not evidence of causality. The workbook does not identify financial impact, an investigation owner, a review date, or approved actions. These remain To confirm. The next decision is a proposal, not an organizational commitment. Fictional Asteria training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3590097264c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ff31007a8e40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7f0dc76e9e45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32c8763abd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Asteria KPI Overvie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D8CFE43A-299C-44D8-9529-97CFEA352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AE1FC48D-085E-4317-8CF1-37E48C8B27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Asteria content">
            <a:extLst xmlns:a="http://schemas.openxmlformats.org/drawingml/2006/main">
              <a:ext uri="{FF2B5EF4-FFF2-40B4-BE49-F238E27FC236}">
                <a16:creationId xmlns:a16="http://schemas.microsoft.com/office/drawing/2014/main" id="{21D0ADEE-0352-4934-B709-20047A11CA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5800" y="1952625"/>
            <a:ext cx="10820400" cy="4000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Asteria Trend 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C94C8790-711C-4612-A0FC-B0F3A1FD1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CF6CBAA8-1728-468F-9C0A-8331E1365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Asteria content">
            <a:extLst xmlns:a="http://schemas.openxmlformats.org/drawingml/2006/main">
              <a:ext uri="{FF2B5EF4-FFF2-40B4-BE49-F238E27FC236}">
                <a16:creationId xmlns:a16="http://schemas.microsoft.com/office/drawing/2014/main" id="{74B925B1-F982-4288-A110-D72D8749E6A5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685800" y="1952625"/>
            <a:ext cx="10820400" cy="4000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Asteria Decision Discuss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A174A119-8015-4C2C-80F9-E897B4AB1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7021550E-9D48-42F1-82AE-A05EF1AE8D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Asteria content">
            <a:extLst xmlns:a="http://schemas.openxmlformats.org/drawingml/2006/main">
              <a:ext uri="{FF2B5EF4-FFF2-40B4-BE49-F238E27FC236}">
                <a16:creationId xmlns:a16="http://schemas.microsoft.com/office/drawing/2014/main" id="{6ECB6654-B4F3-4327-AED2-A0DFF72ABF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1952625"/>
            <a:ext cx="10820400" cy="4000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875b7fb584211" /><Relationship Type="http://schemas.openxmlformats.org/officeDocument/2006/relationships/slideLayout" Target="/ppt/slideLayouts/slideLayout1.xml" Id="R367c2637f0a449e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7f30dda2ebd4792" /><Relationship Type="http://schemas.openxmlformats.org/officeDocument/2006/relationships/slideLayout" Target="/ppt/slideLayouts/slideLayout2.xml" Id="Rcaffccf938c4462d" /><Relationship Type="http://schemas.openxmlformats.org/officeDocument/2006/relationships/slideLayout" Target="/ppt/slideLayouts/slideLayout3.xml" Id="R893aa9e6b9924d8f" /><Relationship Type="http://schemas.openxmlformats.org/officeDocument/2006/relationships/slideLayout" Target="/ppt/slideLayouts/slideLayout4.xml" Id="R38095a5182a34e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7c2637f0a449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Asteria Corporat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affccf938c4462d"/>
    <p:sldLayoutId xmlns:r="http://schemas.openxmlformats.org/officeDocument/2006/relationships" id="2147483652" r:id="R893aa9e6b9924d8f"/>
    <p:sldLayoutId xmlns:r="http://schemas.openxmlformats.org/officeDocument/2006/relationships" id="2147483653" r:id="R38095a5182a34e91"/>
  </p:sldLayoutIdLst>
</p:sldMaster>
</file>

<file path=ppt/slideMasters/theme/theme2.xml><?xml version="1.0" encoding="utf-8"?>
<a:theme xmlns:a="http://schemas.openxmlformats.org/drawingml/2006/main" name="ChatGPT">
  <a:themeElements>
    <a:clrScheme name="Asteria Service Review">
      <a:dk1>
        <a:srgbClr val="152D50"/>
      </a:dk1>
      <a:lt1>
        <a:srgbClr val="FFFFFF"/>
      </a:lt1>
      <a:dk2>
        <a:srgbClr val="263B52"/>
      </a:dk2>
      <a:lt2>
        <a:srgbClr val="EEF5FA"/>
      </a:lt2>
      <a:accent1>
        <a:srgbClr val="1474BB"/>
      </a:accent1>
      <a:accent2>
        <a:srgbClr val="A92C39"/>
      </a:accent2>
      <a:accent3>
        <a:srgbClr val="8793A2"/>
      </a:accent3>
      <a:accent4>
        <a:srgbClr val="466889"/>
      </a:accent4>
      <a:accent5>
        <a:srgbClr val="B5CCDF"/>
      </a:accent5>
      <a:accent6>
        <a:srgbClr val="DCE8F1"/>
      </a:accent6>
      <a:hlink>
        <a:srgbClr val="1474BB"/>
      </a:hlink>
      <a:folHlink>
        <a:srgbClr val="466889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Asteria Servi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Asteria Service Review">
      <a:dk1>
        <a:srgbClr val="152D50"/>
      </a:dk1>
      <a:lt1>
        <a:srgbClr val="FFFFFF"/>
      </a:lt1>
      <a:dk2>
        <a:srgbClr val="263B52"/>
      </a:dk2>
      <a:lt2>
        <a:srgbClr val="EEF5FA"/>
      </a:lt2>
      <a:accent1>
        <a:srgbClr val="1474BB"/>
      </a:accent1>
      <a:accent2>
        <a:srgbClr val="A92C39"/>
      </a:accent2>
      <a:accent3>
        <a:srgbClr val="8793A2"/>
      </a:accent3>
      <a:accent4>
        <a:srgbClr val="466889"/>
      </a:accent4>
      <a:accent5>
        <a:srgbClr val="B5CCDF"/>
      </a:accent5>
      <a:accent6>
        <a:srgbClr val="DCE8F1"/>
      </a:accent6>
      <a:hlink>
        <a:srgbClr val="1474BB"/>
      </a:hlink>
      <a:folHlink>
        <a:srgbClr val="466889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Asteria Servi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1a9d82e514c21" /><Relationship Type="http://schemas.openxmlformats.org/officeDocument/2006/relationships/notesSlide" Target="/ppt/notesSlides/notesSlide1.xml" Id="Rc0cd0244ad4847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710e4a9f7e4c63" /><Relationship Type="http://schemas.openxmlformats.org/officeDocument/2006/relationships/chart" Target="/ppt/slides/charts/chart1.xml" Id="Raf9c28b7937248b2" /><Relationship Type="http://schemas.openxmlformats.org/officeDocument/2006/relationships/notesSlide" Target="/ppt/notesSlides/notesSlide2.xml" Id="Rd781455cb8a8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ae7101705fb4129" /><Relationship Type="http://schemas.openxmlformats.org/officeDocument/2006/relationships/notesSlide" Target="/ppt/notesSlides/notesSlide3.xml" Id="Rff8c559a9ecc4d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Claim TAT (hours)</c:v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'Chart Data'!$A$2:$A$29</c:f>
              <c:numCache>
                <c:formatCode>General</c:formatCode>
                <c:ptCount val="28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Data'!$B$2:$B$29</c:f>
              <c:numCache>
                <c:formatCode>0</c:formatCode>
                <c:ptCount val="28"/>
                <c:pt idx="0">
                  <c:v>39</c:v>
                </c:pt>
                <c:pt idx="1">
                  <c:v>40</c:v>
                </c:pt>
                <c:pt idx="2">
                  <c:v>38</c:v>
                </c:pt>
                <c:pt idx="3">
                  <c:v>42</c:v>
                </c:pt>
                <c:pt idx="4">
                  <c:v>41</c:v>
                </c:pt>
                <c:pt idx="5">
                  <c:v>40</c:v>
                </c:pt>
                <c:pt idx="6">
                  <c:v>43</c:v>
                </c:pt>
                <c:pt idx="7">
                  <c:v>44</c:v>
                </c:pt>
                <c:pt idx="8">
                  <c:v>42</c:v>
                </c:pt>
                <c:pt idx="9">
                  <c:v>45</c:v>
                </c:pt>
                <c:pt idx="10">
                  <c:v>46</c:v>
                </c:pt>
                <c:pt idx="11">
                  <c:v>45</c:v>
                </c:pt>
                <c:pt idx="12">
                  <c:v>47</c:v>
                </c:pt>
                <c:pt idx="13">
                  <c:v>50</c:v>
                </c:pt>
                <c:pt idx="14">
                  <c:v>55</c:v>
                </c:pt>
                <c:pt idx="15">
                  <c:v>58</c:v>
                </c:pt>
                <c:pt idx="16">
                  <c:v>52</c:v>
                </c:pt>
                <c:pt idx="17">
                  <c:v>47</c:v>
                </c:pt>
                <c:pt idx="18">
                  <c:v>46</c:v>
                </c:pt>
                <c:pt idx="19">
                  <c:v>45</c:v>
                </c:pt>
                <c:pt idx="20">
                  <c:v>44</c:v>
                </c:pt>
                <c:pt idx="21">
                  <c:v>43</c:v>
                </c:pt>
                <c:pt idx="22">
                  <c:v>42</c:v>
                </c:pt>
                <c:pt idx="23">
                  <c:v>41</c:v>
                </c:pt>
                <c:pt idx="24">
                  <c:v>40</c:v>
                </c:pt>
                <c:pt idx="25">
                  <c:v>40</c:v>
                </c:pt>
                <c:pt idx="26">
                  <c:v>39</c:v>
                </c:pt>
                <c:pt idx="27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v>SLA (48 hours)</c:v>
          </c:tx>
          <c:spPr>
            <a:ln xmlns:a="http://schemas.openxmlformats.org/drawingml/2006/main" w="19050">
              <a:solidFill>
                <a:schemeClr val="accent3"/>
              </a:solidFill>
            </a:ln>
          </c:spPr>
          <c:marker>
            <c:symbol val="none"/>
          </c:marker>
          <c:cat>
            <c:numRef>
              <c:f>'Chart Data'!$C$2:$C$29</c:f>
              <c:numCache>
                <c:formatCode>General</c:formatCode>
                <c:ptCount val="28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Data'!$D$2:$D$29</c:f>
              <c:numCache>
                <c:formatCode>0</c:formatCode>
                <c:ptCount val="28"/>
                <c:pt idx="0">
                  <c:v>48</c:v>
                </c:pt>
                <c:pt idx="1">
                  <c:v>48</c:v>
                </c:pt>
                <c:pt idx="2">
                  <c:v>48</c:v>
                </c:pt>
                <c:pt idx="3">
                  <c:v>48</c:v>
                </c:pt>
                <c:pt idx="4">
                  <c:v>48</c:v>
                </c:pt>
                <c:pt idx="5">
                  <c:v>48</c:v>
                </c:pt>
                <c:pt idx="6">
                  <c:v>48</c:v>
                </c:pt>
                <c:pt idx="7">
                  <c:v>48</c:v>
                </c:pt>
                <c:pt idx="8">
                  <c:v>48</c:v>
                </c:pt>
                <c:pt idx="9">
                  <c:v>48</c:v>
                </c:pt>
                <c:pt idx="10">
                  <c:v>48</c:v>
                </c:pt>
                <c:pt idx="11">
                  <c:v>48</c:v>
                </c:pt>
                <c:pt idx="12">
                  <c:v>48</c:v>
                </c:pt>
                <c:pt idx="13">
                  <c:v>48</c:v>
                </c:pt>
                <c:pt idx="14">
                  <c:v>48</c:v>
                </c:pt>
                <c:pt idx="15">
                  <c:v>48</c:v>
                </c:pt>
                <c:pt idx="16">
                  <c:v>48</c:v>
                </c:pt>
                <c:pt idx="17">
                  <c:v>48</c:v>
                </c:pt>
                <c:pt idx="18">
                  <c:v>48</c:v>
                </c:pt>
                <c:pt idx="19">
                  <c:v>48</c:v>
                </c:pt>
                <c:pt idx="20">
                  <c:v>48</c:v>
                </c:pt>
                <c:pt idx="21">
                  <c:v>48</c:v>
                </c:pt>
                <c:pt idx="22">
                  <c:v>48</c:v>
                </c:pt>
                <c:pt idx="23">
                  <c:v>48</c:v>
                </c:pt>
                <c:pt idx="24">
                  <c:v>48</c:v>
                </c:pt>
                <c:pt idx="25">
                  <c:v>48</c:v>
                </c:pt>
                <c:pt idx="26">
                  <c:v>48</c:v>
                </c:pt>
                <c:pt idx="27">
                  <c:v>48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venir Next"/>
                    <a:ea typeface="Avenir Next"/>
                    <a:cs typeface="Avenir Next"/>
                  </a:rPr>
                  <a:t>Day in September 2026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8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venir Next"/>
                    <a:ea typeface="Avenir Next"/>
                    <a:cs typeface="Avenir Next"/>
                  </a:rPr>
                  <a:t>Hours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chemeClr val="bg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venir Next"/>
              <a:ea typeface="Avenir Next"/>
              <a:cs typeface="Avenir Next"/>
            </a:defRPr>
          </a:pPr>
        </a:p>
      </c:txPr>
    </c:legend>
    <c:plotVisOnly val="1"/>
  </c:chart>
  <c:spPr>
    <a:solidFill xmlns:a="http://schemas.openxmlformats.org/drawingml/2006/main">
      <a:schemeClr val="bg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D8CFE43A-299C-44D8-9529-97CFEA352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Service KPI overview</a:t>
            </a:r>
          </a:p>
        </p:txBody>
      </p:sp>
      <p:sp>
        <p:nvSpPr>
          <p:cNvPr id="2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AE1FC48D-085E-4317-8CF1-37E48C8B27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Reporting period: 1–28 September 2026</a:t>
            </a:r>
          </a:p>
        </p:txBody>
      </p:sp>
      <p:sp>
        <p:nvSpPr>
          <p:cNvPr id="3" name="Asteria wordmark">
            <a:extLst xmlns:a="http://schemas.openxmlformats.org/drawingml/2006/main">
              <a:ext uri="{FF2B5EF4-FFF2-40B4-BE49-F238E27FC236}">
                <a16:creationId xmlns:a16="http://schemas.microsoft.com/office/drawing/2014/main" id="{0F20BC74-EF21-4324-8CBB-6D7D1DAC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ASTERIA</a:t>
            </a:r>
          </a:p>
        </p:txBody>
      </p:sp>
      <p:sp>
        <p:nvSpPr>
          <p:cNvPr id="4" name="Service review footer">
            <a:extLst xmlns:a="http://schemas.openxmlformats.org/drawingml/2006/main">
              <a:ext uri="{FF2B5EF4-FFF2-40B4-BE49-F238E27FC236}">
                <a16:creationId xmlns:a16="http://schemas.microsoft.com/office/drawing/2014/main" id="{69BFFC88-E996-4A6C-ACED-ECE023B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388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Service review</a:t>
            </a:r>
          </a:p>
        </p:txBody>
      </p:sp>
      <p:sp>
        <p:nvSpPr>
          <p:cNvPr id="5" name="Claims key figure">
            <a:extLst xmlns:a="http://schemas.openxmlformats.org/drawingml/2006/main">
              <a:ext uri="{FF2B5EF4-FFF2-40B4-BE49-F238E27FC236}">
                <a16:creationId xmlns:a16="http://schemas.microsoft.com/office/drawing/2014/main" id="{8B79F089-9376-4698-B280-7C225B2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rPr>
              <a:t>4 days</a:t>
            </a:r>
          </a:p>
        </p:txBody>
      </p:sp>
      <p:sp>
        <p:nvSpPr>
          <p:cNvPr id="6" name="Claims finding">
            <a:extLst xmlns:a="http://schemas.openxmlformats.org/drawingml/2006/main">
              <a:ext uri="{FF2B5EF4-FFF2-40B4-BE49-F238E27FC236}">
                <a16:creationId xmlns:a16="http://schemas.microsoft.com/office/drawing/2014/main" id="{EAE9BE01-B746-40FD-9AB6-A1827D76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779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Claims turnaround exceeded the 48-hour SLA</a:t>
            </a:r>
          </a:p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14–17 September. Peak: 58 hours on 16 September.</a:t>
            </a:r>
          </a:p>
        </p:txBody>
      </p:sp>
      <p:sp>
        <p:nvSpPr>
          <p:cNvPr id="7" name="Complaint key figure">
            <a:extLst xmlns:a="http://schemas.openxmlformats.org/drawingml/2006/main">
              <a:ext uri="{FF2B5EF4-FFF2-40B4-BE49-F238E27FC236}">
                <a16:creationId xmlns:a16="http://schemas.microsoft.com/office/drawing/2014/main" id="{22398BC1-0630-4F63-AB78-8D57EB87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rPr>
              <a:t>13 to 24</a:t>
            </a:r>
          </a:p>
        </p:txBody>
      </p:sp>
      <p:sp>
        <p:nvSpPr>
          <p:cNvPr id="8" name="Complaint finding">
            <a:extLst xmlns:a="http://schemas.openxmlformats.org/drawingml/2006/main">
              <a:ext uri="{FF2B5EF4-FFF2-40B4-BE49-F238E27FC236}">
                <a16:creationId xmlns:a16="http://schemas.microsoft.com/office/drawing/2014/main" id="{233919CA-88FF-45CF-9456-61363D7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779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Daily complaints increased from 14 to 21 September</a:t>
            </a:r>
          </a:p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An increase of 11 complaints, not a cumulative total.</a:t>
            </a:r>
          </a:p>
        </p:txBody>
      </p:sp>
      <p:sp>
        <p:nvSpPr>
          <p:cNvPr id="9" name="Conversion key figure">
            <a:extLst xmlns:a="http://schemas.openxmlformats.org/drawingml/2006/main">
              <a:ext uri="{FF2B5EF4-FFF2-40B4-BE49-F238E27FC236}">
                <a16:creationId xmlns:a16="http://schemas.microsoft.com/office/drawing/2014/main" id="{AE5BDAAA-F992-455C-8693-F968E19A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90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rPr>
              <a:t>−1.82 pp</a:t>
            </a:r>
          </a:p>
        </p:txBody>
      </p:sp>
      <p:sp>
        <p:nvSpPr>
          <p:cNvPr id="10" name="Conversion finding">
            <a:extLst xmlns:a="http://schemas.openxmlformats.org/drawingml/2006/main">
              <a:ext uri="{FF2B5EF4-FFF2-40B4-BE49-F238E27FC236}">
                <a16:creationId xmlns:a16="http://schemas.microsoft.com/office/drawing/2014/main" id="{CCBE8D7C-5263-459F-8864-92EAA4B1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1075"/>
            <a:ext cx="7791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Digital conversion fell from 11.30% to 9.47%</a:t>
            </a:r>
          </a:p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22–25 September. Change measured in percentage points.</a:t>
            </a:r>
          </a:p>
        </p:txBody>
      </p:sp>
    </p:spTree>
    <p:extLst>
      <p:ext uri="{BB962C8B-B14F-4D97-AF65-F5344CB8AC3E}">
        <p14:creationId xmlns:p14="http://schemas.microsoft.com/office/powerpoint/2010/main" val="4861841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C94C8790-711C-4612-A0FC-B0F3A1FD1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Claims turnaround trend</a:t>
            </a:r>
          </a:p>
        </p:txBody>
      </p:sp>
      <p:sp>
        <p:nvSpPr>
          <p:cNvPr id="2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CF6CBAA8-1728-468F-9C0A-8331E1365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Daily average claim turnaround and the 48-hour SLA</a:t>
            </a:r>
          </a:p>
        </p:txBody>
      </p:sp>
      <p:sp>
        <p:nvSpPr>
          <p:cNvPr id="3" name="Asteria wordmark">
            <a:extLst xmlns:a="http://schemas.openxmlformats.org/drawingml/2006/main">
              <a:ext uri="{FF2B5EF4-FFF2-40B4-BE49-F238E27FC236}">
                <a16:creationId xmlns:a16="http://schemas.microsoft.com/office/drawing/2014/main" id="{C19E89ED-355D-493F-8B33-3698C6EF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ASTERIA</a:t>
            </a:r>
          </a:p>
        </p:txBody>
      </p:sp>
      <p:sp>
        <p:nvSpPr>
          <p:cNvPr id="4" name="Service review footer">
            <a:extLst xmlns:a="http://schemas.openxmlformats.org/drawingml/2006/main">
              <a:ext uri="{FF2B5EF4-FFF2-40B4-BE49-F238E27FC236}">
                <a16:creationId xmlns:a16="http://schemas.microsoft.com/office/drawing/2014/main" id="{76ED2113-6D05-4EA6-BDA1-D9E8612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388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Service review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c28b7937248b2"/>
          </a:graphicData>
        </a:graphic>
      </p:graphicFrame>
      <p:sp>
        <p:nvSpPr>
          <p:cNvPr id="6" name="Trend interpretation">
            <a:extLst xmlns:a="http://schemas.openxmlformats.org/drawingml/2006/main">
              <a:ext uri="{FF2B5EF4-FFF2-40B4-BE49-F238E27FC236}">
                <a16:creationId xmlns:a16="http://schemas.microsoft.com/office/drawing/2014/main" id="{98A84F06-CAC3-4DE6-BBE9-1CA52339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14–17 September exceeded the SLA. Peak: 58 hours on 16 September.</a:t>
            </a:r>
          </a:p>
        </p:txBody>
      </p:sp>
    </p:spTree>
    <p:extLst>
      <p:ext uri="{BB962C8B-B14F-4D97-AF65-F5344CB8AC3E}">
        <p14:creationId xmlns:p14="http://schemas.microsoft.com/office/powerpoint/2010/main" val="7396020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steria title">
            <a:extLst xmlns:a="http://schemas.openxmlformats.org/drawingml/2006/main">
              <a:ext uri="{FF2B5EF4-FFF2-40B4-BE49-F238E27FC236}">
                <a16:creationId xmlns:a16="http://schemas.microsoft.com/office/drawing/2014/main" id="{A174A119-8015-4C2C-80F9-E897B4AB1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52450"/>
            <a:ext cx="10820400" cy="6667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330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Decision discussion</a:t>
            </a:r>
          </a:p>
        </p:txBody>
      </p:sp>
      <p:sp>
        <p:nvSpPr>
          <p:cNvPr id="2" name="Asteria subtitle">
            <a:extLst xmlns:a="http://schemas.openxmlformats.org/drawingml/2006/main">
              <a:ext uri="{FF2B5EF4-FFF2-40B4-BE49-F238E27FC236}">
                <a16:creationId xmlns:a16="http://schemas.microsoft.com/office/drawing/2014/main" id="{7021550E-9D48-42F1-82AE-A05EF1AE8D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1285875"/>
            <a:ext cx="10820400" cy="381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Which evidence is needed before choosing a service intervention?</a:t>
            </a:r>
          </a:p>
        </p:txBody>
      </p:sp>
      <p:sp>
        <p:nvSpPr>
          <p:cNvPr id="3" name="Asteria wordmark">
            <a:extLst xmlns:a="http://schemas.openxmlformats.org/drawingml/2006/main">
              <a:ext uri="{FF2B5EF4-FFF2-40B4-BE49-F238E27FC236}">
                <a16:creationId xmlns:a16="http://schemas.microsoft.com/office/drawing/2014/main" id="{2A880F51-A17B-493D-B7B7-83C9E391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575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ASTERIA</a:t>
            </a:r>
          </a:p>
        </p:txBody>
      </p:sp>
      <p:sp>
        <p:nvSpPr>
          <p:cNvPr id="4" name="Service review footer">
            <a:extLst xmlns:a="http://schemas.openxmlformats.org/drawingml/2006/main">
              <a:ext uri="{FF2B5EF4-FFF2-40B4-BE49-F238E27FC236}">
                <a16:creationId xmlns:a16="http://schemas.microsoft.com/office/drawing/2014/main" id="{1004F2D3-264F-4712-B5FF-4537940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388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Service review</a:t>
            </a:r>
          </a:p>
        </p:txBody>
      </p:sp>
      <p:sp>
        <p:nvSpPr>
          <p:cNvPr id="5" name="Asteria content">
            <a:extLst xmlns:a="http://schemas.openxmlformats.org/drawingml/2006/main">
              <a:ext uri="{FF2B5EF4-FFF2-40B4-BE49-F238E27FC236}">
                <a16:creationId xmlns:a16="http://schemas.microsoft.com/office/drawing/2014/main" id="{6ECB6654-B4F3-4327-AED2-A0DFF72ABF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t/>
            </a:r>
          </a:p>
        </p:txBody>
      </p:sp>
      <p:sp>
        <p:nvSpPr>
          <p:cNvPr id="6" name="Proposed decision heading">
            <a:extLst xmlns:a="http://schemas.openxmlformats.org/drawingml/2006/main">
              <a:ext uri="{FF2B5EF4-FFF2-40B4-BE49-F238E27FC236}">
                <a16:creationId xmlns:a16="http://schemas.microsoft.com/office/drawing/2014/main" id="{B842AEBC-A5F4-42B1-8C94-A09C9145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2250">
                <a:solidFill>
                  <a:schemeClr val="accent1"/>
                </a:solidFill>
                <a:latin typeface="Avenir Next Demi Bold"/>
                <a:ea typeface="Avenir Next Demi Bold"/>
                <a:cs typeface="Avenir Next Demi Bold"/>
              </a:rPr>
              <a:t>Proposed next decision</a:t>
            </a:r>
          </a:p>
        </p:txBody>
      </p:sp>
      <p:sp>
        <p:nvSpPr>
          <p:cNvPr id="7" name="Proposed decision">
            <a:extLst xmlns:a="http://schemas.openxmlformats.org/drawingml/2006/main">
              <a:ext uri="{FF2B5EF4-FFF2-40B4-BE49-F238E27FC236}">
                <a16:creationId xmlns:a16="http://schemas.microsoft.com/office/drawing/2014/main" id="{1CF3980F-7F8C-4563-9A30-3F905AAC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25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Agree the evidence required to investigate the service patterns.</a:t>
            </a:r>
          </a:p>
        </p:txBody>
      </p:sp>
      <p:sp>
        <p:nvSpPr>
          <p:cNvPr id="8" name="Evidence gaps heading">
            <a:extLst xmlns:a="http://schemas.openxmlformats.org/drawingml/2006/main">
              <a:ext uri="{FF2B5EF4-FFF2-40B4-BE49-F238E27FC236}">
                <a16:creationId xmlns:a16="http://schemas.microsoft.com/office/drawing/2014/main" id="{002DB93B-797F-41C1-9A73-20467DF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2250">
                <a:solidFill>
                  <a:schemeClr val="tx1"/>
                </a:solidFill>
                <a:latin typeface="Avenir Next Demi Bold"/>
                <a:ea typeface="Avenir Next Demi Bold"/>
                <a:cs typeface="Avenir Next Demi Bold"/>
              </a:rPr>
              <a:t>Evidence gaps</a:t>
            </a:r>
          </a:p>
        </p:txBody>
      </p:sp>
      <p:sp>
        <p:nvSpPr>
          <p:cNvPr id="9" name="Evidence gaps">
            <a:extLst xmlns:a="http://schemas.openxmlformats.org/drawingml/2006/main">
              <a:ext uri="{FF2B5EF4-FFF2-40B4-BE49-F238E27FC236}">
                <a16:creationId xmlns:a16="http://schemas.microsoft.com/office/drawing/2014/main" id="{05CE4D25-F4A3-43D3-8DAF-113D7FE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Cause of KPI changes: To confirm</a:t>
            </a:r>
          </a:p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Financial impact: To confirm</a:t>
            </a:r>
          </a:p>
          <a:p xmlns:a="http://schemas.openxmlformats.org/drawingml/2006/main">
            <a:pPr>
              <a:def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Investigation owner and review date: To confirm</a:t>
            </a:r>
          </a:p>
        </p:txBody>
      </p:sp>
      <p:sp>
        <p:nvSpPr>
          <p:cNvPr id="10" name="Decision boundary">
            <a:extLst xmlns:a="http://schemas.openxmlformats.org/drawingml/2006/main">
              <a:ext uri="{FF2B5EF4-FFF2-40B4-BE49-F238E27FC236}">
                <a16:creationId xmlns:a16="http://schemas.microsoft.com/office/drawing/2014/main" id="{AFB3D8EB-4A44-4ED3-85BA-C3012D6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2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chemeClr val="accent2"/>
                </a:solidFill>
                <a:latin typeface="Avenir Next"/>
                <a:ea typeface="Avenir Next"/>
                <a:cs typeface="Avenir Next"/>
              </a:rPr>
              <a:t>Recorded events do not establish causality. No commitments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1904909185"/>
      </p:ext>
    </p:extLst>
  </p:cSld>
</p:sld>
</file>

<file path=ppt/theme/theme1.xml><?xml version="1.0" encoding="utf-8"?>
<a:theme xmlns:a="http://schemas.openxmlformats.org/drawingml/2006/main" name="ChatGPT">
  <a:themeElements>
    <a:clrScheme name="Asteria Service Review">
      <a:dk1>
        <a:srgbClr val="152D50"/>
      </a:dk1>
      <a:lt1>
        <a:srgbClr val="FFFFFF"/>
      </a:lt1>
      <a:dk2>
        <a:srgbClr val="263B52"/>
      </a:dk2>
      <a:lt2>
        <a:srgbClr val="EEF5FA"/>
      </a:lt2>
      <a:accent1>
        <a:srgbClr val="1474BB"/>
      </a:accent1>
      <a:accent2>
        <a:srgbClr val="A92C39"/>
      </a:accent2>
      <a:accent3>
        <a:srgbClr val="8793A2"/>
      </a:accent3>
      <a:accent4>
        <a:srgbClr val="466889"/>
      </a:accent4>
      <a:accent5>
        <a:srgbClr val="B5CCDF"/>
      </a:accent5>
      <a:accent6>
        <a:srgbClr val="DCE8F1"/>
      </a:accent6>
      <a:hlink>
        <a:srgbClr val="1474BB"/>
      </a:hlink>
      <a:folHlink>
        <a:srgbClr val="466889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Asteria Service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2026-10-03T08:08:02.0090000Z</dcterms:created>
  <dcterms:modified xsi:type="dcterms:W3CDTF">2026-10-03T08:08:02.0090000Z</dcterms:modified>
</coreProperties>
</file>